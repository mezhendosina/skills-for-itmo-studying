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4CFBF1-D56C-4EAE-97DD-8853515AF12C}">
  <a:tblStyle styleId="{354CFBF1-D56C-4EAE-97DD-8853515AF12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0e4c79f2_1_1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a0e4c79f2_1_1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0e4c79f2_1_1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a0e4c79f2_1_18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0e4c79f2_1_2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a0e4c79f2_1_24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0e4c79f2_1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a0e4c79f2_1_9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a0a055723_1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a0a055723_11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0a055723_11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a0a055723_11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40080" y="1920240"/>
            <a:ext cx="1097280" cy="64008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128016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6B57"/>
                </a:solidFill>
                <a:latin typeface="Golos Text"/>
                <a:ea typeface="Golos Text"/>
                <a:cs typeface="Golos Text"/>
                <a:sym typeface="Golos Text"/>
              </a:rPr>
              <a:t>ЛАБОРАТОРНАЯ 02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2194560"/>
            <a:ext cx="8686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5F6FA"/>
                </a:solidFill>
              </a:rPr>
              <a:t>Баг-репорт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4953960"/>
            <a:ext cx="8229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052560" y="1280160"/>
            <a:ext cx="2651760" cy="2651760"/>
          </a:xfrm>
          <a:prstGeom prst="ellipse">
            <a:avLst/>
          </a:prstGeom>
          <a:solidFill>
            <a:srgbClr val="1E21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2141A"/>
                </a:solidFill>
                <a:latin typeface="Avenir"/>
                <a:ea typeface="Avenir"/>
                <a:cs typeface="Avenir"/>
                <a:sym typeface="Avenir"/>
              </a:rPr>
              <a:t>🐞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40080" y="13811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Цель работы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762000" y="1905000"/>
            <a:ext cx="5143500" cy="3619500"/>
            <a:chOff x="762000" y="1905000"/>
            <a:chExt cx="5143500" cy="3619500"/>
          </a:xfrm>
        </p:grpSpPr>
        <p:sp>
          <p:nvSpPr>
            <p:cNvPr id="99" name="Google Shape;99;p14"/>
            <p:cNvSpPr/>
            <p:nvPr/>
          </p:nvSpPr>
          <p:spPr>
            <a:xfrm>
              <a:off x="7620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0953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Оформление дефектов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Научиться оформлять дефекты по профессиональному стандарту: корректно формулировать заголовок, заполнять все поля баг-репорта, обосновывать выбор severity и priority.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4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286500" y="1905000"/>
            <a:ext cx="5143500" cy="3619500"/>
            <a:chOff x="6286500" y="1905000"/>
            <a:chExt cx="5143500" cy="3619500"/>
          </a:xfrm>
        </p:grpSpPr>
        <p:sp>
          <p:nvSpPr>
            <p:cNvPr id="103" name="Google Shape;103;p14"/>
            <p:cNvSpPr/>
            <p:nvPr/>
          </p:nvSpPr>
          <p:spPr>
            <a:xfrm>
              <a:off x="62865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6198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C24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find_in_page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Анализ наблюдений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Научиться отличать наблюдение (как в лабораторной работе №1) от профессионального документа.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40080" y="571500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000">
                <a:solidFill>
                  <a:srgbClr val="F5F6FA"/>
                </a:solidFill>
              </a:rPr>
              <a:t>Введение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b="1" sz="1200">
              <a:solidFill>
                <a:srgbClr val="9AA1B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40080" y="1238250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762000" y="1905000"/>
            <a:ext cx="5143500" cy="3619500"/>
            <a:chOff x="762000" y="1905000"/>
            <a:chExt cx="5143500" cy="3619500"/>
          </a:xfrm>
        </p:grpSpPr>
        <p:sp>
          <p:nvSpPr>
            <p:cNvPr id="114" name="Google Shape;114;p15"/>
            <p:cNvSpPr/>
            <p:nvPr/>
          </p:nvSpPr>
          <p:spPr>
            <a:xfrm>
              <a:off x="7620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10953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3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От наблюдений к структуре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 лабораторной работе №1 вы описывали дефекты своими словами — как пользователь. Это важный первый шаг для развития наблюдательности.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Теперь задача — структурировать эти наблюдения в формат, который однозначно понимает разработчик.</a:t>
              </a:r>
              <a:endParaRPr b="1" sz="135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6286500" y="1905000"/>
            <a:ext cx="5143500" cy="3619500"/>
            <a:chOff x="6286500" y="1905000"/>
            <a:chExt cx="5143500" cy="3619500"/>
          </a:xfrm>
        </p:grpSpPr>
        <p:sp>
          <p:nvSpPr>
            <p:cNvPr id="117" name="Google Shape;117;p15"/>
            <p:cNvSpPr/>
            <p:nvPr/>
          </p:nvSpPr>
          <p:spPr>
            <a:xfrm>
              <a:off x="62865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66198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C24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b="0" sz="3600">
                <a:solidFill>
                  <a:srgbClr val="FFC24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Баг-репорт как инструмент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Баг-репорт — это коммуникационный документ. Его цель — не просто сообщить об ошибке, а передать разработчику исчерпывающую информацию для её воспроизведения.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Хорошо написанный баг-репорт сокращает количество уточняющих вопросов и ускоряет исправление.</a:t>
              </a:r>
              <a:endParaRPr b="1" sz="13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Теоретическая справка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640080" y="1428750"/>
            <a:ext cx="10911900" cy="857400"/>
            <a:chOff x="640080" y="1428750"/>
            <a:chExt cx="10911900" cy="857400"/>
          </a:xfrm>
        </p:grpSpPr>
        <p:sp>
          <p:nvSpPr>
            <p:cNvPr id="129" name="Google Shape;129;p16"/>
            <p:cNvSpPr/>
            <p:nvPr/>
          </p:nvSpPr>
          <p:spPr>
            <a:xfrm>
              <a:off x="640080" y="1428750"/>
              <a:ext cx="10911900" cy="857400"/>
            </a:xfrm>
            <a:prstGeom prst="roundRect">
              <a:avLst>
                <a:gd fmla="val 1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925830" y="1524000"/>
              <a:ext cx="10340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Структура заголовка баг-репорта</a:t>
              </a:r>
              <a:endParaRPr b="1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Используйте </a:t>
              </a: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схему: [Где] + [Что] + [При каком условии]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640080" y="2571750"/>
            <a:ext cx="3333900" cy="3238500"/>
            <a:chOff x="640080" y="2571750"/>
            <a:chExt cx="3333900" cy="3238500"/>
          </a:xfrm>
        </p:grpSpPr>
        <p:sp>
          <p:nvSpPr>
            <p:cNvPr id="132" name="Google Shape;132;p16"/>
            <p:cNvSpPr/>
            <p:nvPr/>
          </p:nvSpPr>
          <p:spPr>
            <a:xfrm>
              <a:off x="640080" y="2571750"/>
              <a:ext cx="33339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878205" y="2809875"/>
              <a:ext cx="2857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endParaRPr sz="3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Плохо</a:t>
              </a:r>
              <a:endParaRPr b="1" sz="18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«Кнопка не работает»</a:t>
              </a:r>
              <a:endParaRPr b="1" sz="13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Непонятно какая именно кнопка, где она находится и при каких условиях возникает проблема.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4429125" y="2571750"/>
            <a:ext cx="3333900" cy="3238500"/>
            <a:chOff x="4429125" y="2571750"/>
            <a:chExt cx="3333900" cy="3238500"/>
          </a:xfrm>
        </p:grpSpPr>
        <p:sp>
          <p:nvSpPr>
            <p:cNvPr id="135" name="Google Shape;135;p16"/>
            <p:cNvSpPr/>
            <p:nvPr/>
          </p:nvSpPr>
          <p:spPr>
            <a:xfrm>
              <a:off x="4429125" y="2571750"/>
              <a:ext cx="33339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 cap="flat" cmpd="sng" w="143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4667250" y="2809875"/>
              <a:ext cx="28575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Хорошо</a:t>
              </a:r>
              <a:endParaRPr b="0" sz="18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«Кнопка Оформить заказ не реагирует на клик при пустой корзине»</a:t>
              </a:r>
              <a:endParaRPr b="0" sz="13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90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Четко указано место действия, само событие и контекст проявления ошибки.</a:t>
              </a:r>
              <a:endParaRPr b="0" sz="11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8218170" y="2571750"/>
            <a:ext cx="3333900" cy="3238500"/>
            <a:chOff x="8218170" y="2571750"/>
            <a:chExt cx="3333900" cy="3238500"/>
          </a:xfrm>
        </p:grpSpPr>
        <p:sp>
          <p:nvSpPr>
            <p:cNvPr id="138" name="Google Shape;138;p16"/>
            <p:cNvSpPr/>
            <p:nvPr/>
          </p:nvSpPr>
          <p:spPr>
            <a:xfrm>
              <a:off x="8218170" y="2571750"/>
              <a:ext cx="33339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 cap="flat" cmpd="sng" w="143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8456295" y="2809875"/>
              <a:ext cx="28575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Хорошо</a:t>
              </a:r>
              <a:endParaRPr b="0" sz="18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«Форма регистрации принимает номер телефона из 5 цифр без сообщения об ошибке»</a:t>
              </a:r>
              <a:endParaRPr b="0" sz="13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90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Понятно, где происходит сбой, какое некорректное поведение допущено и условия ввода.</a:t>
              </a:r>
              <a:endParaRPr b="0" sz="11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Теоретическая справка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grpSp>
        <p:nvGrpSpPr>
          <p:cNvPr id="149" name="Google Shape;149;p17"/>
          <p:cNvGrpSpPr/>
          <p:nvPr/>
        </p:nvGrpSpPr>
        <p:grpSpPr>
          <a:xfrm>
            <a:off x="640080" y="1428750"/>
            <a:ext cx="10911900" cy="533400"/>
            <a:chOff x="640080" y="1428750"/>
            <a:chExt cx="10911900" cy="533400"/>
          </a:xfrm>
        </p:grpSpPr>
        <p:sp>
          <p:nvSpPr>
            <p:cNvPr id="150" name="Google Shape;150;p17"/>
            <p:cNvSpPr/>
            <p:nvPr/>
          </p:nvSpPr>
          <p:spPr>
            <a:xfrm>
              <a:off x="640080" y="1428750"/>
              <a:ext cx="10911900" cy="533400"/>
            </a:xfrm>
            <a:prstGeom prst="roundRect">
              <a:avLst>
                <a:gd fmla="val 1428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925830" y="1428750"/>
              <a:ext cx="10340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Severity vs Priority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640080" y="2152650"/>
            <a:ext cx="10763325" cy="476400"/>
            <a:chOff x="640080" y="2152650"/>
            <a:chExt cx="10763325" cy="476400"/>
          </a:xfrm>
        </p:grpSpPr>
        <p:sp>
          <p:nvSpPr>
            <p:cNvPr id="153" name="Google Shape;153;p17"/>
            <p:cNvSpPr/>
            <p:nvPr/>
          </p:nvSpPr>
          <p:spPr>
            <a:xfrm>
              <a:off x="640080" y="2152650"/>
              <a:ext cx="2286000" cy="476400"/>
            </a:xfrm>
            <a:prstGeom prst="roundRect">
              <a:avLst>
                <a:gd fmla="val 12000" name="adj"/>
              </a:avLst>
            </a:prstGeom>
            <a:solidFill>
              <a:srgbClr val="1E212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640080" y="2152650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Критерий</a:t>
              </a:r>
              <a:endParaRPr b="1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3116580" y="2152650"/>
              <a:ext cx="4048200" cy="476400"/>
            </a:xfrm>
            <a:prstGeom prst="roundRect">
              <a:avLst>
                <a:gd fmla="val 12000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3116580" y="2152650"/>
              <a:ext cx="4048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Severity (</a:t>
              </a:r>
              <a:r>
                <a:rPr b="1" lang="en-US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Критичность</a:t>
              </a: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355205" y="2152650"/>
              <a:ext cx="4048200" cy="476400"/>
            </a:xfrm>
            <a:prstGeom prst="roundRect">
              <a:avLst>
                <a:gd fmla="val 1200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7355205" y="2152650"/>
              <a:ext cx="4048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Priority (Приоритет)</a:t>
              </a:r>
              <a:endParaRPr b="1" sz="14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640080" y="2819400"/>
            <a:ext cx="10763325" cy="1047900"/>
            <a:chOff x="640080" y="2819400"/>
            <a:chExt cx="10763325" cy="1047900"/>
          </a:xfrm>
        </p:grpSpPr>
        <p:sp>
          <p:nvSpPr>
            <p:cNvPr id="160" name="Google Shape;160;p17"/>
            <p:cNvSpPr/>
            <p:nvPr/>
          </p:nvSpPr>
          <p:spPr>
            <a:xfrm>
              <a:off x="640080" y="2819400"/>
              <a:ext cx="22860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640080" y="281940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Что оценивает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3116580" y="28194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3116580" y="28194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Влияние дефекта на работу системы.</a:t>
              </a:r>
              <a:endParaRPr b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Объективная оценка.</a:t>
              </a:r>
              <a:endParaRPr b="0" sz="12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7355205" y="28194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7355205" y="28194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Срочность исправления для бизнеса.</a:t>
              </a:r>
              <a:endParaRPr b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Субъективная оценка.</a:t>
              </a:r>
              <a:endParaRPr b="0" sz="12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640080" y="4057650"/>
            <a:ext cx="10763325" cy="1047900"/>
            <a:chOff x="640080" y="4057650"/>
            <a:chExt cx="10763325" cy="1047900"/>
          </a:xfrm>
        </p:grpSpPr>
        <p:sp>
          <p:nvSpPr>
            <p:cNvPr id="167" name="Google Shape;167;p17"/>
            <p:cNvSpPr/>
            <p:nvPr/>
          </p:nvSpPr>
          <p:spPr>
            <a:xfrm>
              <a:off x="640080" y="4057650"/>
              <a:ext cx="22860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640080" y="405765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Градации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3116580" y="405765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3116580" y="405765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6B5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Blocker, Critical, Major, Minor, Trivial</a:t>
              </a:r>
              <a:endParaRPr b="1" sz="1300">
                <a:solidFill>
                  <a:srgbClr val="FF6B5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7355205" y="405765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7355205" y="405765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C24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High, Medium, Low</a:t>
              </a:r>
              <a:endParaRPr b="1" sz="1300">
                <a:solidFill>
                  <a:srgbClr val="FFC24D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3" name="Google Shape;173;p17"/>
          <p:cNvGrpSpPr/>
          <p:nvPr/>
        </p:nvGrpSpPr>
        <p:grpSpPr>
          <a:xfrm>
            <a:off x="640080" y="5295900"/>
            <a:ext cx="10763325" cy="1047900"/>
            <a:chOff x="640080" y="5295900"/>
            <a:chExt cx="10763325" cy="1047900"/>
          </a:xfrm>
        </p:grpSpPr>
        <p:sp>
          <p:nvSpPr>
            <p:cNvPr id="174" name="Google Shape;174;p17"/>
            <p:cNvSpPr/>
            <p:nvPr/>
          </p:nvSpPr>
          <p:spPr>
            <a:xfrm>
              <a:off x="640080" y="5295900"/>
              <a:ext cx="22860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640080" y="529590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Пример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3116580" y="52959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116580" y="52959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«Опечатка на главной странице»</a:t>
              </a:r>
              <a:endParaRPr b="0" i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Severity Minor</a:t>
              </a:r>
              <a:endParaRPr b="1" sz="12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7355205" y="52959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7355205" y="52959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«Если завтра конференция»</a:t>
              </a:r>
              <a:endParaRPr b="0" i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Priority High</a:t>
              </a:r>
              <a:endParaRPr b="1" sz="1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Теоретическая справка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640080" y="1428750"/>
            <a:ext cx="10911900" cy="533400"/>
            <a:chOff x="640080" y="1428750"/>
            <a:chExt cx="10911900" cy="533400"/>
          </a:xfrm>
        </p:grpSpPr>
        <p:sp>
          <p:nvSpPr>
            <p:cNvPr id="189" name="Google Shape;189;p18"/>
            <p:cNvSpPr/>
            <p:nvPr/>
          </p:nvSpPr>
          <p:spPr>
            <a:xfrm>
              <a:off x="640080" y="1428750"/>
              <a:ext cx="10911900" cy="533400"/>
            </a:xfrm>
            <a:prstGeom prst="roundRect">
              <a:avLst>
                <a:gd fmla="val 1428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925830" y="1428750"/>
              <a:ext cx="10340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Шаблон полей баг-репорта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640080" y="2143125"/>
            <a:ext cx="5286300" cy="3952800"/>
            <a:chOff x="640080" y="2143125"/>
            <a:chExt cx="5286300" cy="3952800"/>
          </a:xfrm>
        </p:grpSpPr>
        <p:sp>
          <p:nvSpPr>
            <p:cNvPr id="192" name="Google Shape;192;p18"/>
            <p:cNvSpPr/>
            <p:nvPr/>
          </p:nvSpPr>
          <p:spPr>
            <a:xfrm>
              <a:off x="640080" y="2143125"/>
              <a:ext cx="5286300" cy="3952800"/>
            </a:xfrm>
            <a:prstGeom prst="roundRect">
              <a:avLst>
                <a:gd fmla="val 289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640080" y="2143125"/>
              <a:ext cx="5286300" cy="395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ID: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Уникальный номер (например, BUG-001)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Заголовок: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По схеме [Где] + [Что] + [При каком условии]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Дата обнаружения: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Дата и время фиксации дефекта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Тестировщик: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ФИО автора баг-репорта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Сервис / Приложение: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Название, версия (если известна), платформа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Окружение: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Браузер и версия, ОС и версия, устройство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Severity (Критичность):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Blocker / Critical / Major / Minor / Trivial + обоснование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6265545" y="2143125"/>
            <a:ext cx="5286300" cy="3952800"/>
            <a:chOff x="6265545" y="2143125"/>
            <a:chExt cx="5286300" cy="3952800"/>
          </a:xfrm>
        </p:grpSpPr>
        <p:sp>
          <p:nvSpPr>
            <p:cNvPr id="195" name="Google Shape;195;p18"/>
            <p:cNvSpPr/>
            <p:nvPr/>
          </p:nvSpPr>
          <p:spPr>
            <a:xfrm>
              <a:off x="6265545" y="2143125"/>
              <a:ext cx="5286300" cy="3952800"/>
            </a:xfrm>
            <a:prstGeom prst="roundRect">
              <a:avLst>
                <a:gd fmla="val 289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6265545" y="2143125"/>
              <a:ext cx="5286300" cy="395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Priority (Приоритет):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High / Medium / Low + обоснование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Предусловия: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Что должно быть выполнено до воспроизведения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Шаги воспроизведения: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Пронумерованный список конкретных действий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Ожидаемый результат (ОР):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Что должно было произойти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Фактический результат (ФР):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Что произошло на самом деле (точно)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Скриншот: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Ссылка или прикрепленное изображение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Дополнительно: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Стабильность воспроизведения, особенности конкретных браузеров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18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Шаг 1. Подготовка</a:t>
            </a:r>
            <a:endParaRPr b="1" i="0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/>
          </a:p>
        </p:txBody>
      </p:sp>
      <p:grpSp>
        <p:nvGrpSpPr>
          <p:cNvPr id="207" name="Google Shape;207;p19"/>
          <p:cNvGrpSpPr/>
          <p:nvPr/>
        </p:nvGrpSpPr>
        <p:grpSpPr>
          <a:xfrm>
            <a:off x="639855" y="2248788"/>
            <a:ext cx="5238900" cy="3048000"/>
            <a:chOff x="640080" y="1619250"/>
            <a:chExt cx="5238900" cy="3048000"/>
          </a:xfrm>
        </p:grpSpPr>
        <p:sp>
          <p:nvSpPr>
            <p:cNvPr id="208" name="Google Shape;208;p19"/>
            <p:cNvSpPr/>
            <p:nvPr/>
          </p:nvSpPr>
          <p:spPr>
            <a:xfrm>
              <a:off x="640080" y="1619250"/>
              <a:ext cx="5238900" cy="3048000"/>
            </a:xfrm>
            <a:prstGeom prst="roundRect">
              <a:avLst>
                <a:gd fmla="val 375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640080" y="1619250"/>
              <a:ext cx="5238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laptop_mac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Запуск программы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Откройте текстовый редактор Microsoft Word на вашем компьютере для начала выполнения лабораторной работы.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6312945" y="2248788"/>
            <a:ext cx="5238900" cy="3048000"/>
            <a:chOff x="6313170" y="1619250"/>
            <a:chExt cx="5238900" cy="3048000"/>
          </a:xfrm>
        </p:grpSpPr>
        <p:sp>
          <p:nvSpPr>
            <p:cNvPr id="211" name="Google Shape;211;p19"/>
            <p:cNvSpPr/>
            <p:nvPr/>
          </p:nvSpPr>
          <p:spPr>
            <a:xfrm>
              <a:off x="6313170" y="1619250"/>
              <a:ext cx="5238900" cy="3048000"/>
            </a:xfrm>
            <a:prstGeom prst="roundRect">
              <a:avLst>
                <a:gd fmla="val 375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6313170" y="1619250"/>
              <a:ext cx="5238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C24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2800">
                <a:solidFill>
                  <a:srgbClr val="FFC24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Подготовка шаблона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Используйте структуру полей из теоретической справки, представленной в данной лабораторной работе, чтобы воссоздать шаблон.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Шаг 2. Оформление баг-репортов</a:t>
            </a:r>
            <a:endParaRPr sz="1600"/>
          </a:p>
        </p:txBody>
      </p:sp>
      <p:sp>
        <p:nvSpPr>
          <p:cNvPr id="220" name="Google Shape;220;p20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42755" y="2160588"/>
            <a:ext cx="10906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Возьмите </a:t>
            </a: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5 наблюдений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 из лабораторной работы №1 и оформите каждое как полноценный баг-репорт: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640075" y="3197512"/>
            <a:ext cx="1952700" cy="2535460"/>
            <a:chOff x="640080" y="2047875"/>
            <a:chExt cx="1952700" cy="3619500"/>
          </a:xfrm>
        </p:grpSpPr>
        <p:sp>
          <p:nvSpPr>
            <p:cNvPr id="224" name="Google Shape;224;p20"/>
            <p:cNvSpPr/>
            <p:nvPr/>
          </p:nvSpPr>
          <p:spPr>
            <a:xfrm>
              <a:off x="64008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64008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title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Заголовок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Сформулируйте заголовок по схеме «Где + Что + При каком условии».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2830825" y="3197512"/>
            <a:ext cx="1952700" cy="2535460"/>
            <a:chOff x="2830830" y="2047875"/>
            <a:chExt cx="1952700" cy="3619500"/>
          </a:xfrm>
        </p:grpSpPr>
        <p:sp>
          <p:nvSpPr>
            <p:cNvPr id="227" name="Google Shape;227;p20"/>
            <p:cNvSpPr/>
            <p:nvPr/>
          </p:nvSpPr>
          <p:spPr>
            <a:xfrm>
              <a:off x="283083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283083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Шаблон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Заполните все поля шаблона. Если информация недоступна - укажите это явно.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5021575" y="3197512"/>
            <a:ext cx="1952700" cy="2535460"/>
            <a:chOff x="5021580" y="2047875"/>
            <a:chExt cx="1952700" cy="3619500"/>
          </a:xfrm>
        </p:grpSpPr>
        <p:sp>
          <p:nvSpPr>
            <p:cNvPr id="230" name="Google Shape;230;p20"/>
            <p:cNvSpPr/>
            <p:nvPr/>
          </p:nvSpPr>
          <p:spPr>
            <a:xfrm>
              <a:off x="502158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502158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autorenew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3. Шаги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Воспроизведите дефект заново и опишите точные шаги его нахождения.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7212325" y="3197512"/>
            <a:ext cx="1952700" cy="2535460"/>
            <a:chOff x="7212330" y="2047875"/>
            <a:chExt cx="1952700" cy="3619500"/>
          </a:xfrm>
        </p:grpSpPr>
        <p:sp>
          <p:nvSpPr>
            <p:cNvPr id="233" name="Google Shape;233;p20"/>
            <p:cNvSpPr/>
            <p:nvPr/>
          </p:nvSpPr>
          <p:spPr>
            <a:xfrm>
              <a:off x="721233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721233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camera_alt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4. Скриншот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Сделайте качественный скриншот, наглядно демонстрирующий дефект.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0"/>
          <p:cNvGrpSpPr/>
          <p:nvPr/>
        </p:nvGrpSpPr>
        <p:grpSpPr>
          <a:xfrm>
            <a:off x="9403075" y="3197512"/>
            <a:ext cx="1952700" cy="2535460"/>
            <a:chOff x="9403080" y="2047875"/>
            <a:chExt cx="1952700" cy="3619500"/>
          </a:xfrm>
        </p:grpSpPr>
        <p:sp>
          <p:nvSpPr>
            <p:cNvPr id="236" name="Google Shape;236;p20"/>
            <p:cNvSpPr/>
            <p:nvPr/>
          </p:nvSpPr>
          <p:spPr>
            <a:xfrm>
              <a:off x="940308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940308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5. Важность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Обоснуйте severity и priority - напишите 1–2 предложения с объяснением.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Шаг 3. Сравнительный анализ</a:t>
            </a:r>
            <a:endParaRPr b="1" i="0" sz="3200" u="none" strike="noStrike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grpSp>
        <p:nvGrpSpPr>
          <p:cNvPr id="247" name="Google Shape;247;p21"/>
          <p:cNvGrpSpPr/>
          <p:nvPr/>
        </p:nvGrpSpPr>
        <p:grpSpPr>
          <a:xfrm>
            <a:off x="638175" y="2095500"/>
            <a:ext cx="3429000" cy="3429000"/>
            <a:chOff x="638175" y="2095500"/>
            <a:chExt cx="3429000" cy="3429000"/>
          </a:xfrm>
        </p:grpSpPr>
        <p:sp>
          <p:nvSpPr>
            <p:cNvPr id="248" name="Google Shape;248;p21"/>
            <p:cNvSpPr/>
            <p:nvPr/>
          </p:nvSpPr>
          <p:spPr>
            <a:xfrm>
              <a:off x="638175" y="2095500"/>
              <a:ext cx="3429000" cy="3429000"/>
            </a:xfrm>
            <a:prstGeom prst="roundRect">
              <a:avLst>
                <a:gd fmla="val 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638175" y="2095500"/>
              <a:ext cx="34290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b="0"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Что упущено в описании?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вы упустили в свободном описании из лабораторной работы №1?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21"/>
          <p:cNvGrpSpPr/>
          <p:nvPr/>
        </p:nvGrpSpPr>
        <p:grpSpPr>
          <a:xfrm>
            <a:off x="4381500" y="2095500"/>
            <a:ext cx="3429000" cy="3429000"/>
            <a:chOff x="4381500" y="2095500"/>
            <a:chExt cx="3429000" cy="3429000"/>
          </a:xfrm>
        </p:grpSpPr>
        <p:sp>
          <p:nvSpPr>
            <p:cNvPr id="251" name="Google Shape;251;p21"/>
            <p:cNvSpPr/>
            <p:nvPr/>
          </p:nvSpPr>
          <p:spPr>
            <a:xfrm>
              <a:off x="4381500" y="2095500"/>
              <a:ext cx="3429000" cy="3429000"/>
            </a:xfrm>
            <a:prstGeom prst="roundRect">
              <a:avLst>
                <a:gd fmla="val 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4381500" y="2095500"/>
              <a:ext cx="34290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b="0"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Сложности шаблона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оказалось сложнее всего при заполнении шаблона?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21"/>
          <p:cNvGrpSpPr/>
          <p:nvPr/>
        </p:nvGrpSpPr>
        <p:grpSpPr>
          <a:xfrm>
            <a:off x="8124825" y="2095500"/>
            <a:ext cx="3429000" cy="3429000"/>
            <a:chOff x="8124825" y="2095500"/>
            <a:chExt cx="3429000" cy="3429000"/>
          </a:xfrm>
        </p:grpSpPr>
        <p:sp>
          <p:nvSpPr>
            <p:cNvPr id="254" name="Google Shape;254;p21"/>
            <p:cNvSpPr/>
            <p:nvPr/>
          </p:nvSpPr>
          <p:spPr>
            <a:xfrm>
              <a:off x="8124825" y="2095500"/>
              <a:ext cx="3429000" cy="3429000"/>
            </a:xfrm>
            <a:prstGeom prst="roundRect">
              <a:avLst>
                <a:gd fmla="val 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8124825" y="2095500"/>
              <a:ext cx="34290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Понимание дефекта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Как изменилось ваше понимание того, что такое «хорошо описанный дефект»?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21"/>
          <p:cNvSpPr txBox="1"/>
          <p:nvPr/>
        </p:nvSpPr>
        <p:spPr>
          <a:xfrm>
            <a:off x="638175" y="1428750"/>
            <a:ext cx="10906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 разделе </a:t>
            </a: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«Выводы»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 отчёта ответьте на вопросы: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40080" y="5194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Структура отчета</a:t>
            </a:r>
            <a:endParaRPr b="1" sz="3200">
              <a:solidFill>
                <a:srgbClr val="F5F6FA"/>
              </a:solidFill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22"/>
          <p:cNvGrpSpPr/>
          <p:nvPr/>
        </p:nvGrpSpPr>
        <p:grpSpPr>
          <a:xfrm>
            <a:off x="640080" y="2286000"/>
            <a:ext cx="3429000" cy="3238500"/>
            <a:chOff x="640080" y="2286000"/>
            <a:chExt cx="3429000" cy="3238500"/>
          </a:xfrm>
        </p:grpSpPr>
        <p:sp>
          <p:nvSpPr>
            <p:cNvPr id="266" name="Google Shape;266;p22"/>
            <p:cNvSpPr/>
            <p:nvPr/>
          </p:nvSpPr>
          <p:spPr>
            <a:xfrm>
              <a:off x="640080" y="2286000"/>
              <a:ext cx="34290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640080" y="2286000"/>
              <a:ext cx="3429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b="0"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Содержание задания</a:t>
              </a:r>
              <a:endParaRPr b="0" sz="1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Кратко опишите, что требовалось сделать в рамках лабораторной работы.</a:t>
              </a:r>
              <a:endParaRPr b="0" sz="13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68" name="Google Shape;268;p22"/>
          <p:cNvGrpSpPr/>
          <p:nvPr/>
        </p:nvGrpSpPr>
        <p:grpSpPr>
          <a:xfrm>
            <a:off x="4381500" y="2286000"/>
            <a:ext cx="3429000" cy="3238500"/>
            <a:chOff x="4381500" y="2286000"/>
            <a:chExt cx="3429000" cy="3238500"/>
          </a:xfrm>
        </p:grpSpPr>
        <p:sp>
          <p:nvSpPr>
            <p:cNvPr id="269" name="Google Shape;269;p22"/>
            <p:cNvSpPr/>
            <p:nvPr/>
          </p:nvSpPr>
          <p:spPr>
            <a:xfrm>
              <a:off x="4381500" y="2286000"/>
              <a:ext cx="34290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 txBox="1"/>
            <p:nvPr/>
          </p:nvSpPr>
          <p:spPr>
            <a:xfrm>
              <a:off x="4381500" y="2286000"/>
              <a:ext cx="3429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b="0"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Описание выполнения</a:t>
              </a:r>
              <a:endParaRPr b="0" sz="1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Введение (выбранные сервисы) и 5 оформленных баг-репортов со скриншотами.</a:t>
              </a:r>
              <a:endParaRPr b="0" sz="13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71" name="Google Shape;271;p22"/>
          <p:cNvGrpSpPr/>
          <p:nvPr/>
        </p:nvGrpSpPr>
        <p:grpSpPr>
          <a:xfrm>
            <a:off x="8122920" y="2286000"/>
            <a:ext cx="3429000" cy="3238500"/>
            <a:chOff x="8122920" y="2286000"/>
            <a:chExt cx="3429000" cy="3238500"/>
          </a:xfrm>
        </p:grpSpPr>
        <p:sp>
          <p:nvSpPr>
            <p:cNvPr id="272" name="Google Shape;272;p22"/>
            <p:cNvSpPr/>
            <p:nvPr/>
          </p:nvSpPr>
          <p:spPr>
            <a:xfrm>
              <a:off x="8122920" y="2286000"/>
              <a:ext cx="34290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2"/>
            <p:cNvSpPr txBox="1"/>
            <p:nvPr/>
          </p:nvSpPr>
          <p:spPr>
            <a:xfrm>
              <a:off x="8122920" y="2286000"/>
              <a:ext cx="3429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b="0"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Выводы</a:t>
              </a:r>
              <a:endParaRPr b="0" sz="1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Ответы на вопросы из шага 3 с обязательными ссылками на конкретные примеры.</a:t>
              </a:r>
              <a:endParaRPr b="0" sz="13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74" name="Google Shape;274;p22"/>
          <p:cNvSpPr txBox="1"/>
          <p:nvPr/>
        </p:nvSpPr>
        <p:spPr>
          <a:xfrm>
            <a:off x="640080" y="1524000"/>
            <a:ext cx="1091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 отчёте по лабораторной работе №2 должны быть следующие </a:t>
            </a: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обязательные разделы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Критерии оценивания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640080" y="1431643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07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640075" y="1714500"/>
            <a:ext cx="10911900" cy="3981600"/>
          </a:xfrm>
          <a:prstGeom prst="roundRect">
            <a:avLst>
              <a:gd fmla="val 3085" name="adj"/>
            </a:avLst>
          </a:prstGeom>
          <a:solidFill>
            <a:srgbClr val="1E21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5" name="Google Shape;285;p23"/>
          <p:cNvGraphicFramePr/>
          <p:nvPr/>
        </p:nvGraphicFramePr>
        <p:xfrm>
          <a:off x="640105" y="17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{354CFBF1-D56C-4EAE-97DD-8853515AF12C}</a:tableStyleId>
              </a:tblPr>
              <a:tblGrid>
                <a:gridCol w="5455925"/>
                <a:gridCol w="5455925"/>
              </a:tblGrid>
              <a:tr h="35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300"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42875" marL="14287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Макс. балл</a:t>
                      </a:r>
                      <a:endParaRPr sz="1300"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42875" marL="142875"/>
                </a:tc>
              </a:tr>
              <a:tr h="52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Корректность заголовков баг-репортов (схема «Где + Что + При каком условии»)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Наличие и корректность всех обязательных полей (шаги, ОР, ФР, окружение)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Обоснование severity и priority для каждого баг-репорта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Наличие скриншотов для всех баг-репортов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Выводы: сравнение свободного описания с профессиональным форматом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Оформление отчёта (структура, все разделы)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Своевременность сдачи отчёта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ИТОГО</a:t>
                      </a:r>
                      <a:endParaRPr b="1" sz="1300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114300" marR="142875" marL="142875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0 - 5 баллов</a:t>
                      </a:r>
                      <a:endParaRPr b="1" sz="1300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114300" marR="142875" marL="142875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86" name="Google Shape;286;p23"/>
          <p:cNvSpPr txBox="1"/>
          <p:nvPr/>
        </p:nvSpPr>
        <p:spPr>
          <a:xfrm>
            <a:off x="809575" y="5933350"/>
            <a:ext cx="10572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6B57"/>
                </a:solidFill>
              </a:rPr>
              <a:t>Внимание: каждый последующий месяц за месяцем сдачи снижает максимальный балл на 1</a:t>
            </a:r>
            <a:endParaRPr b="0">
              <a:solidFill>
                <a:srgbClr val="FF6B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640100" y="5767125"/>
            <a:ext cx="69900" cy="5481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