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C1416E-FB4B-429E-B419-DF2F87470F20}">
  <a:tblStyle styleId="{54C1416E-FB4B-429E-B419-DF2F87470F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0a055723_96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a0a055723_96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0a055723_1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a0a055723_11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a0a055723_11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a0a055723_11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40080" y="1920240"/>
            <a:ext cx="1097280" cy="64008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128016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6B57"/>
                </a:solidFill>
                <a:latin typeface="Golos Text"/>
                <a:ea typeface="Golos Text"/>
                <a:cs typeface="Golos Text"/>
                <a:sym typeface="Golos Text"/>
              </a:rPr>
              <a:t>ЛАБОРАТОРНАЯ 01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2194560"/>
            <a:ext cx="86868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5F6FA"/>
                </a:solidFill>
              </a:rPr>
              <a:t>Что такое баг? (исследовательское тестирование)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4953960"/>
            <a:ext cx="8229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9052560" y="1280160"/>
            <a:ext cx="2651760" cy="2651760"/>
          </a:xfrm>
          <a:prstGeom prst="ellipse">
            <a:avLst/>
          </a:prstGeom>
          <a:solidFill>
            <a:srgbClr val="1E21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2141A"/>
                </a:solidFill>
                <a:latin typeface="Avenir"/>
                <a:ea typeface="Avenir"/>
                <a:cs typeface="Avenir"/>
                <a:sym typeface="Avenir"/>
              </a:rPr>
              <a:t>🐞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40080" y="68580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F6FA"/>
                </a:solidFill>
              </a:rPr>
              <a:t>Цель работы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640080" y="2000250"/>
            <a:ext cx="10911840" cy="2762400"/>
            <a:chOff x="640080" y="2000250"/>
            <a:chExt cx="10911840" cy="2762400"/>
          </a:xfrm>
        </p:grpSpPr>
        <p:sp>
          <p:nvSpPr>
            <p:cNvPr id="99" name="Google Shape;99;p14"/>
            <p:cNvSpPr/>
            <p:nvPr/>
          </p:nvSpPr>
          <p:spPr>
            <a:xfrm>
              <a:off x="640080" y="2000250"/>
              <a:ext cx="5143500" cy="2762400"/>
            </a:xfrm>
            <a:prstGeom prst="roundRect">
              <a:avLst>
                <a:gd fmla="val 4137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640080" y="200025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FF6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1021080" y="2333625"/>
              <a:ext cx="4381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32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Аналитический взгляд</a:t>
              </a:r>
              <a:endParaRPr b="1" sz="18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Развить наблюдательность и критический подход к программным продуктам до начала изучения формальных методов документирования.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6408420" y="2000250"/>
              <a:ext cx="5143500" cy="2762400"/>
            </a:xfrm>
            <a:prstGeom prst="roundRect">
              <a:avLst>
                <a:gd fmla="val 4137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6408420" y="200025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FFC2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789420" y="2333625"/>
              <a:ext cx="4381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32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Поиск несоответствий</a:t>
              </a:r>
              <a:endParaRPr b="1" sz="18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Научиться замечать разницу между ожидаемым и фактическим поведением сложной системы и описывать её простыми, понятными словами.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640080" y="5143500"/>
            <a:ext cx="10911900" cy="666900"/>
            <a:chOff x="640080" y="5143500"/>
            <a:chExt cx="10911900" cy="666900"/>
          </a:xfrm>
        </p:grpSpPr>
        <p:sp>
          <p:nvSpPr>
            <p:cNvPr id="106" name="Google Shape;106;p14"/>
            <p:cNvSpPr/>
            <p:nvPr/>
          </p:nvSpPr>
          <p:spPr>
            <a:xfrm>
              <a:off x="640080" y="5143500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FFC2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868680" y="5143500"/>
              <a:ext cx="10683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Задача тестировщика — выбирать, что проверять важнее всего.</a:t>
              </a:r>
              <a:endParaRPr b="1" sz="16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40080" y="571500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000">
                <a:solidFill>
                  <a:srgbClr val="F5F6FA"/>
                </a:solidFill>
              </a:rPr>
              <a:t>Введение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b="1" sz="1200">
              <a:solidFill>
                <a:srgbClr val="9AA1B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5497830" y="1524000"/>
            <a:ext cx="6054000" cy="3333900"/>
            <a:chOff x="5497830" y="1524000"/>
            <a:chExt cx="6054000" cy="3333900"/>
          </a:xfrm>
        </p:grpSpPr>
        <p:sp>
          <p:nvSpPr>
            <p:cNvPr id="116" name="Google Shape;116;p15"/>
            <p:cNvSpPr/>
            <p:nvPr/>
          </p:nvSpPr>
          <p:spPr>
            <a:xfrm>
              <a:off x="5497830" y="1524000"/>
              <a:ext cx="6054000" cy="3333900"/>
            </a:xfrm>
            <a:prstGeom prst="roundRect">
              <a:avLst>
                <a:gd fmla="val 4571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5878830" y="1809750"/>
              <a:ext cx="5292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Прежде чем изучать форматы баг-репортов и техники тест-дизайна, важно развить базовое умение: замечать, когда что-то работает не так, как ожидается. Это не техническое знание — это аналитическое мышление, которое формируется через практику наблюдения.</a:t>
              </a:r>
              <a:endParaRPr sz="135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Профессиональные тестировщики описывают этот навык как </a:t>
              </a:r>
              <a:r>
                <a:rPr b="1" lang="en-US" sz="13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«взгляд тестировщика»</a:t>
              </a:r>
              <a:r>
                <a:rPr lang="en-US" sz="13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— способность замечать несоответствия там, где обычный пользователь их не видит. Первая лабораторная работа — это тренировка именно этого навыка.</a:t>
              </a:r>
              <a:endParaRPr sz="135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640080" y="1524000"/>
            <a:ext cx="4572000" cy="3333900"/>
            <a:chOff x="640080" y="1524000"/>
            <a:chExt cx="4572000" cy="3333900"/>
          </a:xfrm>
        </p:grpSpPr>
        <p:sp>
          <p:nvSpPr>
            <p:cNvPr id="119" name="Google Shape;119;p15"/>
            <p:cNvSpPr/>
            <p:nvPr/>
          </p:nvSpPr>
          <p:spPr>
            <a:xfrm>
              <a:off x="640080" y="1524000"/>
              <a:ext cx="4572000" cy="3333900"/>
            </a:xfrm>
            <a:prstGeom prst="roundRect">
              <a:avLst>
                <a:gd fmla="val 4571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925830" y="1809750"/>
              <a:ext cx="4000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format_quote</a:t>
              </a:r>
              <a:endParaRPr sz="44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«Тестирование — это процесс выполнения программы с целью найти ошибки».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— Г. Майерс</a:t>
              </a:r>
              <a:endParaRPr b="0" sz="14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Шаг 1. Выбор объекта тестирования</a:t>
            </a:r>
            <a:endParaRPr b="1" i="0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40080" y="1333500"/>
            <a:ext cx="10515600" cy="39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Откройте любые </a:t>
            </a:r>
            <a:r>
              <a:rPr b="1" lang="en-US" sz="1275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сервисы</a:t>
            </a:r>
            <a:r>
              <a:rPr b="1" lang="en-US" sz="1275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, которыми пользуетесь в повседневной жизни. Это могут быть абсолютно любые цифровые продукты:</a:t>
            </a:r>
            <a:endParaRPr b="1" sz="1275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6"/>
          <p:cNvGrpSpPr/>
          <p:nvPr/>
        </p:nvGrpSpPr>
        <p:grpSpPr>
          <a:xfrm>
            <a:off x="640080" y="2857500"/>
            <a:ext cx="10572600" cy="3048150"/>
            <a:chOff x="640080" y="2857500"/>
            <a:chExt cx="10572600" cy="3048150"/>
          </a:xfrm>
        </p:grpSpPr>
        <p:sp>
          <p:nvSpPr>
            <p:cNvPr id="131" name="Google Shape;131;p16"/>
            <p:cNvSpPr/>
            <p:nvPr/>
          </p:nvSpPr>
          <p:spPr>
            <a:xfrm>
              <a:off x="640080" y="2857500"/>
              <a:ext cx="33339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830580" y="3048000"/>
              <a:ext cx="2952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Социальные сети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ВКонтакте, Telegram и любые другие привычные платформы общения.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4259580" y="2857500"/>
              <a:ext cx="33339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4450080" y="3048000"/>
              <a:ext cx="2952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Финтех и банки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Мобильные приложения и веб-версии личных кабинетов любых банков.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7879080" y="2857500"/>
              <a:ext cx="33336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8069580" y="3048000"/>
              <a:ext cx="29526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Маркетплейсы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Популярные торговые площадки, такие как Wildberries, Ozon, Яндекс Маркет.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640080" y="4476750"/>
              <a:ext cx="33339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830580" y="4667250"/>
              <a:ext cx="2952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Госуслуги и ВУЗы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Государственные сервисы, порталы ведомств и сайты университетов.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4259580" y="4476750"/>
              <a:ext cx="33339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4450080" y="4667250"/>
              <a:ext cx="2952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Доставка и медиа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Сервисы заказа еды, вызова такси, онлайн-кинотеатры и стриминги.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7879080" y="4476750"/>
              <a:ext cx="33336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8069580" y="4667250"/>
              <a:ext cx="29526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Свободный выбор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Любые другие приложения или веб-сайты, которыми вы часто пользуетесь.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6"/>
          <p:cNvSpPr/>
          <p:nvPr/>
        </p:nvSpPr>
        <p:spPr>
          <a:xfrm>
            <a:off x="640080" y="2000250"/>
            <a:ext cx="57300" cy="476400"/>
          </a:xfrm>
          <a:prstGeom prst="rect">
            <a:avLst/>
          </a:prstGeom>
          <a:solidFill>
            <a:srgbClr val="FFC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8200" y="2000250"/>
            <a:ext cx="105156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rPr>
              <a:t>Ограничение:</a:t>
            </a:r>
            <a:r>
              <a:rPr b="0" lang="en-US" sz="12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rPr>
              <a:t> запрещено выполнять действия, которые могут привести к нарушению целостности данных, функционирования сервисов или неправомерному доступу к информации.</a:t>
            </a:r>
            <a:endParaRPr b="0" sz="1200">
              <a:solidFill>
                <a:srgbClr val="FFC2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40080" y="6858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Шаг 2. Исследование</a:t>
            </a:r>
            <a:endParaRPr sz="1600"/>
          </a:p>
        </p:txBody>
      </p:sp>
      <p:sp>
        <p:nvSpPr>
          <p:cNvPr id="152" name="Google Shape;152;p17"/>
          <p:cNvSpPr/>
          <p:nvPr/>
        </p:nvSpPr>
        <p:spPr>
          <a:xfrm>
            <a:off x="640080" y="1554480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grpSp>
        <p:nvGrpSpPr>
          <p:cNvPr id="154" name="Google Shape;154;p17"/>
          <p:cNvGrpSpPr/>
          <p:nvPr/>
        </p:nvGrpSpPr>
        <p:grpSpPr>
          <a:xfrm>
            <a:off x="640080" y="1857375"/>
            <a:ext cx="10911900" cy="809700"/>
            <a:chOff x="640080" y="1857375"/>
            <a:chExt cx="10911900" cy="809700"/>
          </a:xfrm>
        </p:grpSpPr>
        <p:sp>
          <p:nvSpPr>
            <p:cNvPr id="155" name="Google Shape;155;p17"/>
            <p:cNvSpPr/>
            <p:nvPr/>
          </p:nvSpPr>
          <p:spPr>
            <a:xfrm>
              <a:off x="640080" y="1857375"/>
              <a:ext cx="10911900" cy="809700"/>
            </a:xfrm>
            <a:prstGeom prst="roundRect">
              <a:avLst>
                <a:gd fmla="val 14117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925830" y="2000250"/>
              <a:ext cx="10340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Проведите 30-40 минут за активным исследованием выбранных сервисов. </a:t>
              </a:r>
              <a:r>
                <a:rPr b="0" lang="en-US" sz="14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Работайте как обычный пользователь, но обращайте внимание на всё, что вас удивляет, раздражает или кажется странным.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640080" y="3000375"/>
            <a:ext cx="1905000" cy="285900"/>
            <a:chOff x="640080" y="3000375"/>
            <a:chExt cx="1905000" cy="285900"/>
          </a:xfrm>
        </p:grpSpPr>
        <p:sp>
          <p:nvSpPr>
            <p:cNvPr id="158" name="Google Shape;158;p17"/>
            <p:cNvSpPr/>
            <p:nvPr/>
          </p:nvSpPr>
          <p:spPr>
            <a:xfrm>
              <a:off x="640080" y="3000375"/>
              <a:ext cx="1905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640080" y="30003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Что искать: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640080" y="3429000"/>
            <a:ext cx="2028900" cy="2238300"/>
            <a:chOff x="640080" y="3429000"/>
            <a:chExt cx="2028900" cy="2238300"/>
          </a:xfrm>
        </p:grpSpPr>
        <p:sp>
          <p:nvSpPr>
            <p:cNvPr id="161" name="Google Shape;161;p17"/>
            <p:cNvSpPr/>
            <p:nvPr/>
          </p:nvSpPr>
          <p:spPr>
            <a:xfrm>
              <a:off x="640080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830580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visibility_off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Неожиданное поведение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Поведение, которое отличается от того, что вы ожидали увидеть.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2859405" y="3429000"/>
            <a:ext cx="2028900" cy="2238300"/>
            <a:chOff x="2859405" y="3429000"/>
            <a:chExt cx="2028900" cy="2238300"/>
          </a:xfrm>
        </p:grpSpPr>
        <p:sp>
          <p:nvSpPr>
            <p:cNvPr id="164" name="Google Shape;164;p17"/>
            <p:cNvSpPr/>
            <p:nvPr/>
          </p:nvSpPr>
          <p:spPr>
            <a:xfrm>
              <a:off x="2859405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3049905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Ошибки системы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Сообщения об ошибках — понятны ли они? Корректны ли в данной ситуации?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5078730" y="3429000"/>
            <a:ext cx="2028900" cy="2238300"/>
            <a:chOff x="5078730" y="3429000"/>
            <a:chExt cx="2028900" cy="2238300"/>
          </a:xfrm>
        </p:grpSpPr>
        <p:sp>
          <p:nvSpPr>
            <p:cNvPr id="167" name="Google Shape;167;p17"/>
            <p:cNvSpPr/>
            <p:nvPr/>
          </p:nvSpPr>
          <p:spPr>
            <a:xfrm>
              <a:off x="5078730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5269230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design_services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Проблемы UX/UI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Неудобные, запутанные или совершенно нелогичные элементы интерфейса.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17"/>
          <p:cNvGrpSpPr/>
          <p:nvPr/>
        </p:nvGrpSpPr>
        <p:grpSpPr>
          <a:xfrm>
            <a:off x="7298055" y="3429000"/>
            <a:ext cx="2028900" cy="2238300"/>
            <a:chOff x="7298055" y="3429000"/>
            <a:chExt cx="2028900" cy="2238300"/>
          </a:xfrm>
        </p:grpSpPr>
        <p:sp>
          <p:nvSpPr>
            <p:cNvPr id="170" name="Google Shape;170;p17"/>
            <p:cNvSpPr/>
            <p:nvPr/>
          </p:nvSpPr>
          <p:spPr>
            <a:xfrm>
              <a:off x="7298055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7488555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dangerous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Некорректная работа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Функции, которые работают неверно или полностью отказываются работать.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9517380" y="3429000"/>
            <a:ext cx="2028900" cy="2238300"/>
            <a:chOff x="9517380" y="3429000"/>
            <a:chExt cx="2028900" cy="2238300"/>
          </a:xfrm>
        </p:grpSpPr>
        <p:sp>
          <p:nvSpPr>
            <p:cNvPr id="173" name="Google Shape;173;p17"/>
            <p:cNvSpPr/>
            <p:nvPr/>
          </p:nvSpPr>
          <p:spPr>
            <a:xfrm>
              <a:off x="9517380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9707880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difference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Расхождения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Разница между тем, что написано (тексты, инструкции), и тем, что происходит.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40080" y="6858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Шаг 3. Фиксация наблюдений</a:t>
            </a:r>
            <a:endParaRPr b="1" sz="3200">
              <a:solidFill>
                <a:srgbClr val="F5F6FA"/>
              </a:solidFill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40080" y="1554480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4953000"/>
            <a:ext cx="105729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rPr>
              <a:t>Писать своими словами, без технических терминов и шаблонов - это намеренное ограничение. На следующей лабораторной вы оформите те же находки по профессиональному стандарту и сравните результаты.</a:t>
            </a:r>
            <a:endParaRPr b="0" sz="1300">
              <a:solidFill>
                <a:srgbClr val="FFC2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714375" y="1809750"/>
            <a:ext cx="10763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rPr>
              <a:t>Зафиксируйте не менее 5 наблюдений.</a:t>
            </a: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 Для каждого запишите в свободной форме четыре ключевых аспекта: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8"/>
          <p:cNvGrpSpPr/>
          <p:nvPr/>
        </p:nvGrpSpPr>
        <p:grpSpPr>
          <a:xfrm>
            <a:off x="714375" y="2381250"/>
            <a:ext cx="10763250" cy="2286000"/>
            <a:chOff x="714375" y="2381250"/>
            <a:chExt cx="10763250" cy="2286000"/>
          </a:xfrm>
        </p:grpSpPr>
        <p:sp>
          <p:nvSpPr>
            <p:cNvPr id="187" name="Google Shape;187;p18"/>
            <p:cNvSpPr/>
            <p:nvPr/>
          </p:nvSpPr>
          <p:spPr>
            <a:xfrm>
              <a:off x="714375" y="2381250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714375" y="2381250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touch_app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1. Действие</a:t>
              </a:r>
              <a:endParaRPr b="1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именно вы делали в системе (какое конкретное действие совершали в процессе исследования).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3476625" y="2381250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3476625" y="2381250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2. Результат</a:t>
              </a:r>
              <a:endParaRPr b="1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произошло на самом деле (какой отклик от системы вы увидели на экране мобильного или ПК).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6238875" y="2381250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6238875" y="2381250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3. Ожидание</a:t>
              </a:r>
              <a:endParaRPr b="1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вы ожидали увидеть (как, по вашему мнению, должна была корректно отреагировать система).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9001125" y="2381250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9001125" y="2381250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4. Проблема</a:t>
              </a:r>
              <a:endParaRPr b="1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Обоснование дефекта: почему именно вы считаете данное поведение ошибкой или неудобством.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18"/>
          <p:cNvSpPr/>
          <p:nvPr/>
        </p:nvSpPr>
        <p:spPr>
          <a:xfrm>
            <a:off x="714375" y="4953000"/>
            <a:ext cx="69900" cy="548100"/>
          </a:xfrm>
          <a:prstGeom prst="rect">
            <a:avLst/>
          </a:prstGeom>
          <a:solidFill>
            <a:srgbClr val="FFC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40080" y="6858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Структура отчета</a:t>
            </a:r>
            <a:endParaRPr b="1" sz="3200">
              <a:solidFill>
                <a:srgbClr val="F5F6FA"/>
              </a:solidFill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40080" y="1554480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14375" y="1809750"/>
            <a:ext cx="1076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В отчёте по лабораторной работе №1 должны быть следующие разделы: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19"/>
          <p:cNvGrpSpPr/>
          <p:nvPr/>
        </p:nvGrpSpPr>
        <p:grpSpPr>
          <a:xfrm>
            <a:off x="714375" y="2381250"/>
            <a:ext cx="2476500" cy="3238500"/>
            <a:chOff x="714375" y="2381250"/>
            <a:chExt cx="2476500" cy="3238500"/>
          </a:xfrm>
        </p:grpSpPr>
        <p:sp>
          <p:nvSpPr>
            <p:cNvPr id="207" name="Google Shape;207;p19"/>
            <p:cNvSpPr/>
            <p:nvPr/>
          </p:nvSpPr>
          <p:spPr>
            <a:xfrm>
              <a:off x="714375" y="23812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714375" y="238125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endParaRPr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1. Введение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Краткое описание выбранных для тестирования сервисов. Почему выбрали именно их?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19"/>
          <p:cNvGrpSpPr/>
          <p:nvPr/>
        </p:nvGrpSpPr>
        <p:grpSpPr>
          <a:xfrm>
            <a:off x="3476625" y="2381250"/>
            <a:ext cx="2476500" cy="3238500"/>
            <a:chOff x="3476625" y="2381250"/>
            <a:chExt cx="2476500" cy="3238500"/>
          </a:xfrm>
        </p:grpSpPr>
        <p:sp>
          <p:nvSpPr>
            <p:cNvPr id="210" name="Google Shape;210;p19"/>
            <p:cNvSpPr/>
            <p:nvPr/>
          </p:nvSpPr>
          <p:spPr>
            <a:xfrm>
              <a:off x="3476625" y="23812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3476625" y="238125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2. Постановка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вы исследовали и как долго в процессе работы.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19"/>
          <p:cNvGrpSpPr/>
          <p:nvPr/>
        </p:nvGrpSpPr>
        <p:grpSpPr>
          <a:xfrm>
            <a:off x="6238875" y="2381250"/>
            <a:ext cx="2476500" cy="3238500"/>
            <a:chOff x="6238875" y="2381250"/>
            <a:chExt cx="2476500" cy="3238500"/>
          </a:xfrm>
        </p:grpSpPr>
        <p:sp>
          <p:nvSpPr>
            <p:cNvPr id="213" name="Google Shape;213;p19"/>
            <p:cNvSpPr/>
            <p:nvPr/>
          </p:nvSpPr>
          <p:spPr>
            <a:xfrm>
              <a:off x="6238875" y="23812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6238875" y="238125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3. Результаты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5 наблюдений. Для каждого: сервис, действие, что произошло, что ожидали, обоснование дефекта.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19"/>
          <p:cNvGrpSpPr/>
          <p:nvPr/>
        </p:nvGrpSpPr>
        <p:grpSpPr>
          <a:xfrm>
            <a:off x="9001125" y="2381250"/>
            <a:ext cx="2476500" cy="3238500"/>
            <a:chOff x="9001125" y="2381250"/>
            <a:chExt cx="2476500" cy="3238500"/>
          </a:xfrm>
        </p:grpSpPr>
        <p:sp>
          <p:nvSpPr>
            <p:cNvPr id="216" name="Google Shape;216;p19"/>
            <p:cNvSpPr/>
            <p:nvPr/>
          </p:nvSpPr>
          <p:spPr>
            <a:xfrm>
              <a:off x="9001125" y="23812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9001125" y="238125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emoji_objects</a:t>
              </a:r>
              <a:endParaRPr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4. Выводы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показалось неожиданным? Какие наблюдения вас удивили больше всего?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40080" y="68580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F6FA"/>
                </a:solidFill>
              </a:rPr>
              <a:t>Критерии оценивания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640080" y="1388092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07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640075" y="1676250"/>
            <a:ext cx="11022300" cy="3932100"/>
          </a:xfrm>
          <a:prstGeom prst="roundRect">
            <a:avLst>
              <a:gd fmla="val 3999" name="adj"/>
            </a:avLst>
          </a:prstGeom>
          <a:solidFill>
            <a:srgbClr val="1E21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8" name="Google Shape;228;p20"/>
          <p:cNvGraphicFramePr/>
          <p:nvPr/>
        </p:nvGraphicFramePr>
        <p:xfrm>
          <a:off x="923925" y="182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{54C1416E-FB4B-429E-B419-DF2F87470F20}</a:tableStyleId>
              </a:tblPr>
              <a:tblGrid>
                <a:gridCol w="5224450"/>
                <a:gridCol w="5224475"/>
              </a:tblGrid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6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b="1">
                        <a:solidFill>
                          <a:srgbClr val="FF6B5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Баллы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/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Количество зафиксированных наблюдений (не менее 5)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Наличие описания действия, фактического и ожидаемого поведения для каждого наблюдения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Обоснование: почему каждое наблюдение является дефектом или проблемой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Оформление отчёта (структура, читаемость, наличие всех разделов)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Своевременность сдачи отчёта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ИТОГО</a:t>
                      </a:r>
                      <a:endParaRPr b="1" sz="1350"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4300" marB="0" marR="95250" marL="95250">
                    <a:lnT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6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0 - 5 баллов</a:t>
                      </a:r>
                      <a:endParaRPr b="1" sz="1350">
                        <a:solidFill>
                          <a:srgbClr val="FF6B5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4300" marB="0" marR="95250" marL="95250">
                    <a:lnT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29" name="Google Shape;229;p20"/>
          <p:cNvSpPr txBox="1"/>
          <p:nvPr/>
        </p:nvSpPr>
        <p:spPr>
          <a:xfrm>
            <a:off x="809575" y="5933350"/>
            <a:ext cx="10572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6B57"/>
                </a:solidFill>
              </a:rPr>
              <a:t>Внимание: каждый последующий месяц за месяцем сдачи снижает максимальный балл на 1</a:t>
            </a:r>
            <a:endParaRPr b="0">
              <a:solidFill>
                <a:srgbClr val="FF6B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640100" y="5767125"/>
            <a:ext cx="69900" cy="5481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